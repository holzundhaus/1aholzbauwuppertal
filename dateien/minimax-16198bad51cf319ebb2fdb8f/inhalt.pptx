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wuppertal/aufstockung-holzbauweise-tragfaehigkeit-erschliessung-vorabstimmung/" TargetMode="External"/><Relationship Id="rId3" Type="http://schemas.openxmlformats.org/officeDocument/2006/relationships/hyperlink" Target="https://holzundhaus.github.io/1aholzbauwuppertal/dateien/minimax-16198bad51cf319ebb2fdb8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in Holzbauweise: Tragfähigkeit, Erschließung und Vorabstimmung · Erklärende Präsentation</a:t>
            </a:r>
          </a:p>
        </p:txBody>
      </p:sp>
      <p:sp>
        <p:nvSpPr>
          <p:cNvPr id="3" name="Content Placeholder 2"/>
          <p:cNvSpPr>
            <a:spLocks noGrp="1"/>
          </p:cNvSpPr>
          <p:nvPr>
            <p:ph idx="1"/>
          </p:nvPr>
        </p:nvSpPr>
        <p:spPr/>
        <p:txBody>
          <a:bodyPr/>
          <a:lstStyle/>
          <a:p>
            <a:r>
              <a:t>Überblick: Eine Aufstockung in Holzbauweise verändert nicht nur die äußere Gestalt eines Gebäudes. Hinzu kommen zusätzliche Lasten, eine neue Geschosslage und die Frage, wie diese sicher erschlossen wird. Der eigentliche Planungsbeginn liegt deshalb nicht bei der Auswahl eines Holzsystems, sondern bei der Prüfung des Bestands. Welche Unterlagen braucht die Tragfähigkeitsprüfung, welche Punkte sind bei Treppe und Versorgung zu klären und was sollte vor einer Anfrage geklärt sein? Der folgende Leitfaden ordnet diese Fragen zu einer belastbaren ersten Projektanalyse.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vorhandene Tragfähigkeit zuerst geprüft werden muss</a:t>
            </a:r>
          </a:p>
        </p:txBody>
      </p:sp>
      <p:sp>
        <p:nvSpPr>
          <p:cNvPr id="3" name="Content Placeholder 2"/>
          <p:cNvSpPr>
            <a:spLocks noGrp="1"/>
          </p:cNvSpPr>
          <p:nvPr>
            <p:ph idx="1"/>
          </p:nvPr>
        </p:nvSpPr>
        <p:spPr/>
        <p:txBody>
          <a:bodyPr/>
          <a:lstStyle/>
          <a:p>
            <a:pPr>
              <a:defRPr sz="1800"/>
            </a:pPr>
            <a:r>
              <a:t>Holzbauweise bedeutet nicht automatisch, dass sich jedes Gebäude aufrüsten lässt. Eine Aufstockung beansprucht Decken, Wände und Fundamente zusätzlich, auch wenn das neue Bauwerk leichter ist als eine massive Alternative. Entscheidend ist daher ein statischer Nachweis für das konkrete Bestandsgebäude. Dafür sind vorhandene Grundrisse, Schnitte und Konstruktionspläne wichtig. Ebenso werden Bauteilabmessungen und Material von Decken, Wänden und Fundamenten benötigt. Auch frühere Eingriffe oder Umnutzungen können das Tragwerk verändert haben. Sichtbare Verformungen, Risse oder Feuchtespuren an tragenden Bauteilen gehören ebenfalls in die Bewertu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vorhandene Tragfähigkeit zuerst geprüft werden muss</a:t>
            </a:r>
          </a:p>
        </p:txBody>
      </p:sp>
      <p:sp>
        <p:nvSpPr>
          <p:cNvPr id="3" name="Content Placeholder 2"/>
          <p:cNvSpPr>
            <a:spLocks noGrp="1"/>
          </p:cNvSpPr>
          <p:nvPr>
            <p:ph idx="1"/>
          </p:nvPr>
        </p:nvSpPr>
        <p:spPr/>
        <p:txBody>
          <a:bodyPr/>
          <a:lstStyle/>
          <a:p>
            <a:pPr>
              <a:defRPr sz="1800"/>
            </a:pPr>
            <a:r>
              <a:t>ng. Ohne diese Grundlagen lässt sich die zusätzliche Last nicht zuverlässig beurteilen. Werden Bauteile verstärkt oder ertüchtigt, muss das parallel zum Entwurf des neuen Holzrahmenbaus geklärt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Unterlagen erleichtern die erste Einschätzung</a:t>
            </a:r>
          </a:p>
        </p:txBody>
      </p:sp>
      <p:sp>
        <p:nvSpPr>
          <p:cNvPr id="3" name="Content Placeholder 2"/>
          <p:cNvSpPr>
            <a:spLocks noGrp="1"/>
          </p:cNvSpPr>
          <p:nvPr>
            <p:ph idx="1"/>
          </p:nvPr>
        </p:nvSpPr>
        <p:spPr/>
        <p:txBody>
          <a:bodyPr/>
          <a:lstStyle/>
          <a:p>
            <a:pPr>
              <a:defRPr sz="1800"/>
            </a:pPr>
            <a:r>
              <a:t>Für eine erste Einschätzung zur Tragfähigkeit einer Aufstockung in Holzbauweise sollten möglichst aktuelle Bauunterlagen zusammengestellt werden. Dazu zählen Grundrisse und Schnitte, Angaben zu Konstruktion und Material sowie Informationen zu früheren Umbauten. Hilfreich sind außerdem Fotos, die sichtbare Schäden oder die vorgesehene Anschlussstelle zeigen. Angaben zur gewünschten zusätzlichen Fläche und zur Nutzung des neuen Geschosses machen deutlich, welche Anforderungen an Raumaufteilung, Lasten und Erschließung entstehen. Auch der bisherige Planungsstand sollte festgehalten werden: Sind bereits Statiker, Architekturplanung oder andere Fa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Unterlagen erleichtern die erste Einschätzung</a:t>
            </a:r>
          </a:p>
        </p:txBody>
      </p:sp>
      <p:sp>
        <p:nvSpPr>
          <p:cNvPr id="3" name="Content Placeholder 2"/>
          <p:cNvSpPr>
            <a:spLocks noGrp="1"/>
          </p:cNvSpPr>
          <p:nvPr>
            <p:ph idx="1"/>
          </p:nvPr>
        </p:nvSpPr>
        <p:spPr/>
        <p:txBody>
          <a:bodyPr/>
          <a:lstStyle/>
          <a:p>
            <a:pPr>
              <a:defRPr sz="1800"/>
            </a:pPr>
            <a:r>
              <a:t>chplanende eingebunden? Liegen baurechtliche Auskünfte vor? Eine vollständige Anfrage ersetzt keinen statischen Nachweis, kann aber dazu beitragen, dass die offenen Punkte früh erkannt und nicht erst während der Ausführung auftreten.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umfasst mehr als einen Treppenplatz</a:t>
            </a:r>
          </a:p>
        </p:txBody>
      </p:sp>
      <p:sp>
        <p:nvSpPr>
          <p:cNvPr id="3" name="Content Placeholder 2"/>
          <p:cNvSpPr>
            <a:spLocks noGrp="1"/>
          </p:cNvSpPr>
          <p:nvPr>
            <p:ph idx="1"/>
          </p:nvPr>
        </p:nvSpPr>
        <p:spPr/>
        <p:txBody>
          <a:bodyPr/>
          <a:lstStyle/>
          <a:p>
            <a:pPr>
              <a:defRPr sz="1800"/>
            </a:pPr>
            <a:r>
              <a:t>Ein zusätzliches Geschoss ist nur nutzbar, wenn Menschen sicher zu ihm gelangen und die erforderlichen Leitungen angeschlossen werden können. Deshalb gehört die Bestandsaufnahme des Treppenhaums in die frühe Planung. Zu prüfen sind Lage, Breite und Höhe sowie die Möglichkeit, das bestehende Treppenhaus zu verlängern oder einen separaten Zugang zu schaffen. Daneben sind Rettungswege und die Tragfähigkeit der Decke, auf der die Aufstockung ruht, einzubeziehen. Auch Heizung, Sanitär und Elektro müssen an vorhandene Steigeleitungen angebunden werden können. Ein weiterer praktischer Punkt ist der Transportweg während der Bauphase: Material und vor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umfasst mehr als einen Treppenplatz</a:t>
            </a:r>
          </a:p>
        </p:txBody>
      </p:sp>
      <p:sp>
        <p:nvSpPr>
          <p:cNvPr id="3" name="Content Placeholder 2"/>
          <p:cNvSpPr>
            <a:spLocks noGrp="1"/>
          </p:cNvSpPr>
          <p:nvPr>
            <p:ph idx="1"/>
          </p:nvPr>
        </p:nvSpPr>
        <p:spPr/>
        <p:txBody>
          <a:bodyPr/>
          <a:lstStyle/>
          <a:p>
            <a:pPr>
              <a:defRPr sz="1800"/>
            </a:pPr>
            <a:r>
              <a:t>gefertigte Holzbauteile müssen die Baustelle erreichen und auf der geplanten Anschlussstelle umgesetzt werden können. Die weitere Planung zur Aufstockung in Holzbauweise behandelt diese Fragen gemeinsam mit Statik und Genehmigungsfähigkeit.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Baurechtliche Fragen gehören parallel zur Technik</a:t>
            </a:r>
          </a:p>
        </p:txBody>
      </p:sp>
      <p:sp>
        <p:nvSpPr>
          <p:cNvPr id="3" name="Content Placeholder 2"/>
          <p:cNvSpPr>
            <a:spLocks noGrp="1"/>
          </p:cNvSpPr>
          <p:nvPr>
            <p:ph idx="1"/>
          </p:nvPr>
        </p:nvSpPr>
        <p:spPr/>
        <p:txBody>
          <a:bodyPr/>
          <a:lstStyle/>
          <a:p>
            <a:pPr>
              <a:defRPr sz="1800"/>
            </a:pPr>
            <a:r>
              <a:t>Ob eine Aufstockung genehmigungspflichtig ist und welche Unterlagen erforderlich sind, hängt vom jeweiligen Vorhaben ab. Die Bauaufsicht in Wuppertal ist deshalb ein geeigneter erster Anlaufpunkt für eine Orientierung. Auch wenn ein Vorhaben verfahrensfrei sein sollte, sind die geltenden Anforderungen einzuhalten. Dazu können je nach Projekt Abstandsflächen, Brandschutz und Erschließung gehören. Wichtig ist, diese Fragen nicht auf einen späteren Planungsschritt zu verschieben. Tragfähigkeit, Erschließung, Gebäudehülle, technische Ausstattung und Genehmigungsfähigkeit beeinflussen einander. Eine früh abgestimmte Planung kann dazu beitragen, 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Baurechtliche Fragen gehören parallel zur Technik</a:t>
            </a:r>
          </a:p>
        </p:txBody>
      </p:sp>
      <p:sp>
        <p:nvSpPr>
          <p:cNvPr id="3" name="Content Placeholder 2"/>
          <p:cNvSpPr>
            <a:spLocks noGrp="1"/>
          </p:cNvSpPr>
          <p:nvPr>
            <p:ph idx="1"/>
          </p:nvPr>
        </p:nvSpPr>
        <p:spPr/>
        <p:txBody>
          <a:bodyPr/>
          <a:lstStyle/>
          <a:p>
            <a:pPr>
              <a:defRPr sz="1800"/>
            </a:pPr>
            <a:r>
              <a:t>ss konstruktive Entscheidungen und erforderliche Nachweise miteinander vereinbar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Ausführung müssen Anschlüsse feststehen</a:t>
            </a:r>
          </a:p>
        </p:txBody>
      </p:sp>
      <p:sp>
        <p:nvSpPr>
          <p:cNvPr id="3" name="Content Placeholder 2"/>
          <p:cNvSpPr>
            <a:spLocks noGrp="1"/>
          </p:cNvSpPr>
          <p:nvPr>
            <p:ph idx="1"/>
          </p:nvPr>
        </p:nvSpPr>
        <p:spPr/>
        <p:txBody>
          <a:bodyPr/>
          <a:lstStyle/>
          <a:p>
            <a:pPr>
              <a:defRPr sz="1800"/>
            </a:pPr>
            <a:r>
              <a:t>Die spätere Vorfertigung eines Holzrahmenbaus setzt voraus, dass Anschlüsse, Lastpfade und Erschließungsdetails bereits geklärt sind. Das betrifft sowohl die Verbindung zwischen Bestand und neuer Konstruktion als auch die Integration von Leitungen und die Ausführung der Gebäudehülle. Eine belastbare Planung betrachtet diese Punkte nicht einzeln, sondern als zusammenhängende Aufgaben. Der Ablauf beginnt mit der Bestandsaufnahme, führt über die Prüfung von Tragwerk und Erschließung und schließt die verfahrensbezogene Abstimmung mit ein. Erst auf dieser Grundlage lassen sich sinnvolle konstruktive Varianten bewerten und die erforderlichen Fachpl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Ausführung müssen Anschlüsse feststehen</a:t>
            </a:r>
          </a:p>
        </p:txBody>
      </p:sp>
      <p:sp>
        <p:nvSpPr>
          <p:cNvPr id="3" name="Content Placeholder 2"/>
          <p:cNvSpPr>
            <a:spLocks noGrp="1"/>
          </p:cNvSpPr>
          <p:nvPr>
            <p:ph idx="1"/>
          </p:nvPr>
        </p:nvSpPr>
        <p:spPr/>
        <p:txBody>
          <a:bodyPr/>
          <a:lstStyle/>
          <a:p>
            <a:pPr>
              <a:defRPr sz="1800"/>
            </a:pPr>
            <a:r>
              <a:t>anungen beauftragen. Der zentrale Ratgeber zur Aufstockung in Holzbauweise ordnet Tragfähigkeit, Erschließung und Vorabstimmung zu diesem gemeinsamen Planungsschritt.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Aufstockung in Holzbauweise: Tragfähigkeit, Erschließung und Vorabstimmung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